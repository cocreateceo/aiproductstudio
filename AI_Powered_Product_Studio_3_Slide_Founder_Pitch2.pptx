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236B72C-9464-438E-A61E-8683FE7827DB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46478DA-03EC-495E-B96D-FC8EEC202FD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Tech Founder: AI-first architecture, build, scale, support: 40%</a:t>
          </a:r>
        </a:p>
      </dgm:t>
    </dgm:pt>
    <dgm:pt modelId="{782329A5-94E9-4A97-AA34-B458D56CB7C0}" type="parTrans" cxnId="{97C141C2-D110-45EA-BBD7-F8052768B33E}">
      <dgm:prSet/>
      <dgm:spPr/>
      <dgm:t>
        <a:bodyPr/>
        <a:lstStyle/>
        <a:p>
          <a:endParaRPr lang="en-US"/>
        </a:p>
      </dgm:t>
    </dgm:pt>
    <dgm:pt modelId="{7D705D7E-773E-4F84-92EC-3C4D3DE69DE7}" type="sibTrans" cxnId="{97C141C2-D110-45EA-BBD7-F8052768B33E}">
      <dgm:prSet/>
      <dgm:spPr/>
      <dgm:t>
        <a:bodyPr/>
        <a:lstStyle/>
        <a:p>
          <a:endParaRPr lang="en-US"/>
        </a:p>
      </dgm:t>
    </dgm:pt>
    <dgm:pt modelId="{0D4FEAF7-1C8F-434D-BC25-2A364C0A8019}">
      <dgm:prSet custT="1"/>
      <dgm:spPr/>
      <dgm:t>
        <a:bodyPr/>
        <a:lstStyle/>
        <a:p>
          <a:pPr>
            <a:lnSpc>
              <a:spcPct val="100000"/>
            </a:lnSpc>
          </a:pPr>
          <a:endParaRPr lang="en-US" sz="1600" dirty="0"/>
        </a:p>
        <a:p>
          <a:pPr>
            <a:lnSpc>
              <a:spcPct val="100000"/>
            </a:lnSpc>
          </a:pPr>
          <a:r>
            <a:rPr lang="en-US" sz="1600" dirty="0"/>
            <a:t>Based on the business idea, we collaborate to build the product.</a:t>
          </a:r>
        </a:p>
        <a:p>
          <a:pPr>
            <a:lnSpc>
              <a:spcPct val="100000"/>
            </a:lnSpc>
          </a:pPr>
          <a:r>
            <a:rPr lang="en-US" sz="1600" dirty="0"/>
            <a:t>Automation, hosting, and continuous evolution</a:t>
          </a:r>
        </a:p>
      </dgm:t>
    </dgm:pt>
    <dgm:pt modelId="{98D12D79-DC8D-4CD6-B8EB-BE283B366EED}" type="parTrans" cxnId="{E513FC44-DEB5-4E6F-81AE-8A807D045F50}">
      <dgm:prSet/>
      <dgm:spPr/>
      <dgm:t>
        <a:bodyPr/>
        <a:lstStyle/>
        <a:p>
          <a:endParaRPr lang="en-US"/>
        </a:p>
      </dgm:t>
    </dgm:pt>
    <dgm:pt modelId="{A173782D-EA3B-4C76-A9AE-D22AC8A2B98B}" type="sibTrans" cxnId="{E513FC44-DEB5-4E6F-81AE-8A807D045F50}">
      <dgm:prSet/>
      <dgm:spPr/>
      <dgm:t>
        <a:bodyPr/>
        <a:lstStyle/>
        <a:p>
          <a:endParaRPr lang="en-US"/>
        </a:p>
      </dgm:t>
    </dgm:pt>
    <dgm:pt modelId="{DFCB4F3E-765C-496A-995F-C3FFB6CFF24D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1400" dirty="0"/>
            <a:t>Business Founder: Market validation, sales, partnerships, revenue: 40%	</a:t>
          </a:r>
        </a:p>
      </dgm:t>
    </dgm:pt>
    <dgm:pt modelId="{93DD2C21-1894-4E71-81F3-1EFD00A4AB67}" type="parTrans" cxnId="{6A39DD65-B4CB-4952-AE5B-FC91418E0526}">
      <dgm:prSet/>
      <dgm:spPr/>
      <dgm:t>
        <a:bodyPr/>
        <a:lstStyle/>
        <a:p>
          <a:endParaRPr lang="en-US"/>
        </a:p>
      </dgm:t>
    </dgm:pt>
    <dgm:pt modelId="{969AE8AC-09BD-4E89-9A53-BB131CFBA66B}" type="sibTrans" cxnId="{6A39DD65-B4CB-4952-AE5B-FC91418E0526}">
      <dgm:prSet/>
      <dgm:spPr/>
      <dgm:t>
        <a:bodyPr/>
        <a:lstStyle/>
        <a:p>
          <a:endParaRPr lang="en-US"/>
        </a:p>
      </dgm:t>
    </dgm:pt>
    <dgm:pt modelId="{320E7112-99D9-4A0D-AB81-D5C8E4BB9FA4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Operations:  Platform, Finance, Legal, Compliance,  Security, and advisory: 20%</a:t>
          </a:r>
        </a:p>
      </dgm:t>
    </dgm:pt>
    <dgm:pt modelId="{3317485D-B193-42AA-905D-B79B2A4920A5}" type="parTrans" cxnId="{66491E03-D853-4C1C-8ED8-1D7F4DFAFB92}">
      <dgm:prSet/>
      <dgm:spPr/>
      <dgm:t>
        <a:bodyPr/>
        <a:lstStyle/>
        <a:p>
          <a:endParaRPr lang="en-US"/>
        </a:p>
      </dgm:t>
    </dgm:pt>
    <dgm:pt modelId="{C777C7D0-27D2-4B93-9B2E-8F98EA2CDB74}" type="sibTrans" cxnId="{66491E03-D853-4C1C-8ED8-1D7F4DFAFB92}">
      <dgm:prSet/>
      <dgm:spPr/>
      <dgm:t>
        <a:bodyPr/>
        <a:lstStyle/>
        <a:p>
          <a:endParaRPr lang="en-US"/>
        </a:p>
      </dgm:t>
    </dgm:pt>
    <dgm:pt modelId="{3B6EC55D-2DB6-4420-8DB9-CC1D47D00E76}">
      <dgm:prSet custT="1"/>
      <dgm:spPr/>
      <dgm:t>
        <a:bodyPr/>
        <a:lstStyle/>
        <a:p>
          <a:pPr>
            <a:lnSpc>
              <a:spcPct val="100000"/>
            </a:lnSpc>
          </a:pPr>
          <a:endParaRPr lang="en-US" sz="1600" b="0" baseline="0" dirty="0"/>
        </a:p>
        <a:p>
          <a:pPr>
            <a:lnSpc>
              <a:spcPct val="100000"/>
            </a:lnSpc>
          </a:pPr>
          <a:r>
            <a:rPr lang="en-US" sz="1600" b="0" baseline="0" dirty="0"/>
            <a:t>Business growth and sales</a:t>
          </a:r>
          <a:endParaRPr lang="en-US" sz="1600" dirty="0"/>
        </a:p>
        <a:p>
          <a:pPr>
            <a:defRPr b="1"/>
          </a:pPr>
          <a:endParaRPr lang="en-US" sz="1400" dirty="0"/>
        </a:p>
      </dgm:t>
    </dgm:pt>
    <dgm:pt modelId="{F3F0637E-DE65-43FF-93D9-F236D0DC8C8C}" type="parTrans" cxnId="{1649C6DB-2C9B-4B25-9229-41587D7DCD44}">
      <dgm:prSet/>
      <dgm:spPr/>
      <dgm:t>
        <a:bodyPr/>
        <a:lstStyle/>
        <a:p>
          <a:endParaRPr lang="en-US"/>
        </a:p>
      </dgm:t>
    </dgm:pt>
    <dgm:pt modelId="{955A23C9-B535-4922-BCD9-4F2651B62FF5}" type="sibTrans" cxnId="{1649C6DB-2C9B-4B25-9229-41587D7DCD44}">
      <dgm:prSet/>
      <dgm:spPr/>
      <dgm:t>
        <a:bodyPr/>
        <a:lstStyle/>
        <a:p>
          <a:endParaRPr lang="en-US"/>
        </a:p>
      </dgm:t>
    </dgm:pt>
    <dgm:pt modelId="{A786D533-12E2-4536-9AA5-B4B3B2777CBB}">
      <dgm:prSet custT="1"/>
      <dgm:spPr/>
      <dgm:t>
        <a:bodyPr/>
        <a:lstStyle/>
        <a:p>
          <a:pPr>
            <a:lnSpc>
              <a:spcPct val="100000"/>
            </a:lnSpc>
          </a:pPr>
          <a:endParaRPr lang="en-US" sz="1600" dirty="0"/>
        </a:p>
        <a:p>
          <a:pPr>
            <a:lnSpc>
              <a:spcPct val="100000"/>
            </a:lnSpc>
          </a:pPr>
          <a:r>
            <a:rPr lang="en-US" sz="1600" dirty="0"/>
            <a:t>Provide governance, security, legal, and enterprise services.</a:t>
          </a:r>
        </a:p>
        <a:p>
          <a:pPr>
            <a:lnSpc>
              <a:spcPct val="100000"/>
            </a:lnSpc>
          </a:pPr>
          <a:r>
            <a:rPr lang="en-US" sz="1600" dirty="0"/>
            <a:t>Cover basic hosting expenses and release funds monthly stakeholders.</a:t>
          </a:r>
        </a:p>
        <a:p>
          <a:pPr>
            <a:lnSpc>
              <a:spcPct val="100000"/>
            </a:lnSpc>
          </a:pPr>
          <a:endParaRPr lang="en-US" sz="1600" dirty="0"/>
        </a:p>
        <a:p>
          <a:pPr>
            <a:lnSpc>
              <a:spcPct val="100000"/>
            </a:lnSpc>
          </a:pPr>
          <a:endParaRPr lang="en-US" sz="1600" dirty="0"/>
        </a:p>
      </dgm:t>
    </dgm:pt>
    <dgm:pt modelId="{EF9C37CA-54A7-4166-8833-41770C6F35B7}" type="parTrans" cxnId="{3599245C-7A9F-425B-B155-1415A2D7AB6E}">
      <dgm:prSet/>
      <dgm:spPr/>
      <dgm:t>
        <a:bodyPr/>
        <a:lstStyle/>
        <a:p>
          <a:endParaRPr lang="en-US"/>
        </a:p>
      </dgm:t>
    </dgm:pt>
    <dgm:pt modelId="{8906A6FE-3091-4491-8302-561AEECF3B95}" type="sibTrans" cxnId="{3599245C-7A9F-425B-B155-1415A2D7AB6E}">
      <dgm:prSet/>
      <dgm:spPr/>
      <dgm:t>
        <a:bodyPr/>
        <a:lstStyle/>
        <a:p>
          <a:endParaRPr lang="en-US"/>
        </a:p>
      </dgm:t>
    </dgm:pt>
    <dgm:pt modelId="{0C6AF629-2490-4879-BFE3-B2E0B44CF47D}" type="pres">
      <dgm:prSet presAssocID="{E236B72C-9464-438E-A61E-8683FE7827DB}" presName="root" presStyleCnt="0">
        <dgm:presLayoutVars>
          <dgm:dir/>
          <dgm:resizeHandles val="exact"/>
        </dgm:presLayoutVars>
      </dgm:prSet>
      <dgm:spPr/>
    </dgm:pt>
    <dgm:pt modelId="{95BE5031-9A3B-4A63-BFD1-2D01BDE4B755}" type="pres">
      <dgm:prSet presAssocID="{546478DA-03EC-495E-B96D-FC8EEC202FD9}" presName="compNode" presStyleCnt="0"/>
      <dgm:spPr/>
    </dgm:pt>
    <dgm:pt modelId="{3E5ED8D6-0BF0-4D9B-B8F5-49FC932F8BD2}" type="pres">
      <dgm:prSet presAssocID="{546478DA-03EC-495E-B96D-FC8EEC202FD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4A63F2D3-35C3-4EA9-B550-0ACC1CD3318A}" type="pres">
      <dgm:prSet presAssocID="{546478DA-03EC-495E-B96D-FC8EEC202FD9}" presName="iconSpace" presStyleCnt="0"/>
      <dgm:spPr/>
    </dgm:pt>
    <dgm:pt modelId="{A8CA52A1-9756-4728-ACD1-72A4A27FCC4A}" type="pres">
      <dgm:prSet presAssocID="{546478DA-03EC-495E-B96D-FC8EEC202FD9}" presName="parTx" presStyleLbl="revTx" presStyleIdx="0" presStyleCnt="6">
        <dgm:presLayoutVars>
          <dgm:chMax val="0"/>
          <dgm:chPref val="0"/>
        </dgm:presLayoutVars>
      </dgm:prSet>
      <dgm:spPr/>
    </dgm:pt>
    <dgm:pt modelId="{E4B49A2F-34CE-4733-9CDE-70EEE8AC2326}" type="pres">
      <dgm:prSet presAssocID="{546478DA-03EC-495E-B96D-FC8EEC202FD9}" presName="txSpace" presStyleCnt="0"/>
      <dgm:spPr/>
    </dgm:pt>
    <dgm:pt modelId="{56340B30-C5B2-488A-A5E4-13025DB76A9E}" type="pres">
      <dgm:prSet presAssocID="{546478DA-03EC-495E-B96D-FC8EEC202FD9}" presName="desTx" presStyleLbl="revTx" presStyleIdx="1" presStyleCnt="6">
        <dgm:presLayoutVars/>
      </dgm:prSet>
      <dgm:spPr/>
    </dgm:pt>
    <dgm:pt modelId="{2A609E0E-62F4-4CDD-912A-B70A652832A2}" type="pres">
      <dgm:prSet presAssocID="{7D705D7E-773E-4F84-92EC-3C4D3DE69DE7}" presName="sibTrans" presStyleCnt="0"/>
      <dgm:spPr/>
    </dgm:pt>
    <dgm:pt modelId="{2B810AD5-D3D2-45D1-92BD-056C4757AB7F}" type="pres">
      <dgm:prSet presAssocID="{DFCB4F3E-765C-496A-995F-C3FFB6CFF24D}" presName="compNode" presStyleCnt="0"/>
      <dgm:spPr/>
    </dgm:pt>
    <dgm:pt modelId="{4F46C028-287C-41EB-8373-1800C6C90CAD}" type="pres">
      <dgm:prSet presAssocID="{DFCB4F3E-765C-496A-995F-C3FFB6CFF24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tterfly"/>
        </a:ext>
      </dgm:extLst>
    </dgm:pt>
    <dgm:pt modelId="{D510D634-5A71-4129-AC43-54AAA6308688}" type="pres">
      <dgm:prSet presAssocID="{DFCB4F3E-765C-496A-995F-C3FFB6CFF24D}" presName="iconSpace" presStyleCnt="0"/>
      <dgm:spPr/>
    </dgm:pt>
    <dgm:pt modelId="{A085AE69-D972-4033-8CE2-28E9C0B4B819}" type="pres">
      <dgm:prSet presAssocID="{DFCB4F3E-765C-496A-995F-C3FFB6CFF24D}" presName="parTx" presStyleLbl="revTx" presStyleIdx="2" presStyleCnt="6">
        <dgm:presLayoutVars>
          <dgm:chMax val="0"/>
          <dgm:chPref val="0"/>
        </dgm:presLayoutVars>
      </dgm:prSet>
      <dgm:spPr/>
    </dgm:pt>
    <dgm:pt modelId="{33D71942-11D5-40B1-9103-868A72E392F5}" type="pres">
      <dgm:prSet presAssocID="{DFCB4F3E-765C-496A-995F-C3FFB6CFF24D}" presName="txSpace" presStyleCnt="0"/>
      <dgm:spPr/>
    </dgm:pt>
    <dgm:pt modelId="{0681EC13-EBE1-400A-8409-20086D67685B}" type="pres">
      <dgm:prSet presAssocID="{DFCB4F3E-765C-496A-995F-C3FFB6CFF24D}" presName="desTx" presStyleLbl="revTx" presStyleIdx="3" presStyleCnt="6">
        <dgm:presLayoutVars/>
      </dgm:prSet>
      <dgm:spPr/>
    </dgm:pt>
    <dgm:pt modelId="{296B54EC-A330-43FA-94FB-C4159B32A882}" type="pres">
      <dgm:prSet presAssocID="{969AE8AC-09BD-4E89-9A53-BB131CFBA66B}" presName="sibTrans" presStyleCnt="0"/>
      <dgm:spPr/>
    </dgm:pt>
    <dgm:pt modelId="{17FD4CD9-3B91-43E9-8405-ACC2882A9572}" type="pres">
      <dgm:prSet presAssocID="{320E7112-99D9-4A0D-AB81-D5C8E4BB9FA4}" presName="compNode" presStyleCnt="0"/>
      <dgm:spPr/>
    </dgm:pt>
    <dgm:pt modelId="{10938D40-AFD5-42CE-8F5D-C51CAD03671E}" type="pres">
      <dgm:prSet presAssocID="{320E7112-99D9-4A0D-AB81-D5C8E4BB9FA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1C59B235-18DC-42B5-8B05-BD30D5EB3EA5}" type="pres">
      <dgm:prSet presAssocID="{320E7112-99D9-4A0D-AB81-D5C8E4BB9FA4}" presName="iconSpace" presStyleCnt="0"/>
      <dgm:spPr/>
    </dgm:pt>
    <dgm:pt modelId="{FA49B15E-1D7A-4602-888F-D637C581C203}" type="pres">
      <dgm:prSet presAssocID="{320E7112-99D9-4A0D-AB81-D5C8E4BB9FA4}" presName="parTx" presStyleLbl="revTx" presStyleIdx="4" presStyleCnt="6">
        <dgm:presLayoutVars>
          <dgm:chMax val="0"/>
          <dgm:chPref val="0"/>
        </dgm:presLayoutVars>
      </dgm:prSet>
      <dgm:spPr/>
    </dgm:pt>
    <dgm:pt modelId="{51301EDF-B9CA-45B7-997A-B31567BEE12D}" type="pres">
      <dgm:prSet presAssocID="{320E7112-99D9-4A0D-AB81-D5C8E4BB9FA4}" presName="txSpace" presStyleCnt="0"/>
      <dgm:spPr/>
    </dgm:pt>
    <dgm:pt modelId="{E63A1DD4-58A4-4FB5-B6C2-8A9B2C3EF9B1}" type="pres">
      <dgm:prSet presAssocID="{320E7112-99D9-4A0D-AB81-D5C8E4BB9FA4}" presName="desTx" presStyleLbl="revTx" presStyleIdx="5" presStyleCnt="6">
        <dgm:presLayoutVars/>
      </dgm:prSet>
      <dgm:spPr/>
    </dgm:pt>
  </dgm:ptLst>
  <dgm:cxnLst>
    <dgm:cxn modelId="{66491E03-D853-4C1C-8ED8-1D7F4DFAFB92}" srcId="{E236B72C-9464-438E-A61E-8683FE7827DB}" destId="{320E7112-99D9-4A0D-AB81-D5C8E4BB9FA4}" srcOrd="2" destOrd="0" parTransId="{3317485D-B193-42AA-905D-B79B2A4920A5}" sibTransId="{C777C7D0-27D2-4B93-9B2E-8F98EA2CDB74}"/>
    <dgm:cxn modelId="{98098C1A-7A8F-4E57-AF73-5112AAF0E391}" type="presOf" srcId="{A786D533-12E2-4536-9AA5-B4B3B2777CBB}" destId="{E63A1DD4-58A4-4FB5-B6C2-8A9B2C3EF9B1}" srcOrd="0" destOrd="0" presId="urn:microsoft.com/office/officeart/2018/2/layout/IconLabelDescriptionList"/>
    <dgm:cxn modelId="{9AB54323-E150-45E0-9003-104465AA49EF}" type="presOf" srcId="{0D4FEAF7-1C8F-434D-BC25-2A364C0A8019}" destId="{56340B30-C5B2-488A-A5E4-13025DB76A9E}" srcOrd="0" destOrd="0" presId="urn:microsoft.com/office/officeart/2018/2/layout/IconLabelDescriptionList"/>
    <dgm:cxn modelId="{1B1C1928-3FFC-40D1-AF0D-B6F67F09CA91}" type="presOf" srcId="{DFCB4F3E-765C-496A-995F-C3FFB6CFF24D}" destId="{A085AE69-D972-4033-8CE2-28E9C0B4B819}" srcOrd="0" destOrd="0" presId="urn:microsoft.com/office/officeart/2018/2/layout/IconLabelDescriptionList"/>
    <dgm:cxn modelId="{DFA0B52A-5C29-4132-B79D-ADD742DC86EA}" type="presOf" srcId="{E236B72C-9464-438E-A61E-8683FE7827DB}" destId="{0C6AF629-2490-4879-BFE3-B2E0B44CF47D}" srcOrd="0" destOrd="0" presId="urn:microsoft.com/office/officeart/2018/2/layout/IconLabelDescriptionList"/>
    <dgm:cxn modelId="{3599245C-7A9F-425B-B155-1415A2D7AB6E}" srcId="{320E7112-99D9-4A0D-AB81-D5C8E4BB9FA4}" destId="{A786D533-12E2-4536-9AA5-B4B3B2777CBB}" srcOrd="0" destOrd="0" parTransId="{EF9C37CA-54A7-4166-8833-41770C6F35B7}" sibTransId="{8906A6FE-3091-4491-8302-561AEECF3B95}"/>
    <dgm:cxn modelId="{E513FC44-DEB5-4E6F-81AE-8A807D045F50}" srcId="{546478DA-03EC-495E-B96D-FC8EEC202FD9}" destId="{0D4FEAF7-1C8F-434D-BC25-2A364C0A8019}" srcOrd="0" destOrd="0" parTransId="{98D12D79-DC8D-4CD6-B8EB-BE283B366EED}" sibTransId="{A173782D-EA3B-4C76-A9AE-D22AC8A2B98B}"/>
    <dgm:cxn modelId="{6A39DD65-B4CB-4952-AE5B-FC91418E0526}" srcId="{E236B72C-9464-438E-A61E-8683FE7827DB}" destId="{DFCB4F3E-765C-496A-995F-C3FFB6CFF24D}" srcOrd="1" destOrd="0" parTransId="{93DD2C21-1894-4E71-81F3-1EFD00A4AB67}" sibTransId="{969AE8AC-09BD-4E89-9A53-BB131CFBA66B}"/>
    <dgm:cxn modelId="{C0A12556-30AE-4DF3-B855-21B0163E41FE}" type="presOf" srcId="{320E7112-99D9-4A0D-AB81-D5C8E4BB9FA4}" destId="{FA49B15E-1D7A-4602-888F-D637C581C203}" srcOrd="0" destOrd="0" presId="urn:microsoft.com/office/officeart/2018/2/layout/IconLabelDescriptionList"/>
    <dgm:cxn modelId="{97C141C2-D110-45EA-BBD7-F8052768B33E}" srcId="{E236B72C-9464-438E-A61E-8683FE7827DB}" destId="{546478DA-03EC-495E-B96D-FC8EEC202FD9}" srcOrd="0" destOrd="0" parTransId="{782329A5-94E9-4A97-AA34-B458D56CB7C0}" sibTransId="{7D705D7E-773E-4F84-92EC-3C4D3DE69DE7}"/>
    <dgm:cxn modelId="{8F2FEDC6-E8B9-4330-BD59-1192EAFDAD99}" type="presOf" srcId="{3B6EC55D-2DB6-4420-8DB9-CC1D47D00E76}" destId="{0681EC13-EBE1-400A-8409-20086D67685B}" srcOrd="0" destOrd="0" presId="urn:microsoft.com/office/officeart/2018/2/layout/IconLabelDescriptionList"/>
    <dgm:cxn modelId="{1649C6DB-2C9B-4B25-9229-41587D7DCD44}" srcId="{DFCB4F3E-765C-496A-995F-C3FFB6CFF24D}" destId="{3B6EC55D-2DB6-4420-8DB9-CC1D47D00E76}" srcOrd="0" destOrd="0" parTransId="{F3F0637E-DE65-43FF-93D9-F236D0DC8C8C}" sibTransId="{955A23C9-B535-4922-BCD9-4F2651B62FF5}"/>
    <dgm:cxn modelId="{0CA1EDE1-F370-4C3D-81B3-E90A486082B5}" type="presOf" srcId="{546478DA-03EC-495E-B96D-FC8EEC202FD9}" destId="{A8CA52A1-9756-4728-ACD1-72A4A27FCC4A}" srcOrd="0" destOrd="0" presId="urn:microsoft.com/office/officeart/2018/2/layout/IconLabelDescriptionList"/>
    <dgm:cxn modelId="{E2B7F3ED-FE61-4FA9-A737-500E0A6A5F3A}" type="presParOf" srcId="{0C6AF629-2490-4879-BFE3-B2E0B44CF47D}" destId="{95BE5031-9A3B-4A63-BFD1-2D01BDE4B755}" srcOrd="0" destOrd="0" presId="urn:microsoft.com/office/officeart/2018/2/layout/IconLabelDescriptionList"/>
    <dgm:cxn modelId="{B424D88A-3B54-4ED4-9849-B886D7BBC81F}" type="presParOf" srcId="{95BE5031-9A3B-4A63-BFD1-2D01BDE4B755}" destId="{3E5ED8D6-0BF0-4D9B-B8F5-49FC932F8BD2}" srcOrd="0" destOrd="0" presId="urn:microsoft.com/office/officeart/2018/2/layout/IconLabelDescriptionList"/>
    <dgm:cxn modelId="{CBC1B859-C512-4925-B1EB-F6FE9D75D57F}" type="presParOf" srcId="{95BE5031-9A3B-4A63-BFD1-2D01BDE4B755}" destId="{4A63F2D3-35C3-4EA9-B550-0ACC1CD3318A}" srcOrd="1" destOrd="0" presId="urn:microsoft.com/office/officeart/2018/2/layout/IconLabelDescriptionList"/>
    <dgm:cxn modelId="{DDFBB371-F04E-4ED1-9C41-983B7D4A28CB}" type="presParOf" srcId="{95BE5031-9A3B-4A63-BFD1-2D01BDE4B755}" destId="{A8CA52A1-9756-4728-ACD1-72A4A27FCC4A}" srcOrd="2" destOrd="0" presId="urn:microsoft.com/office/officeart/2018/2/layout/IconLabelDescriptionList"/>
    <dgm:cxn modelId="{6C887918-65E5-4979-ACC3-7C0EE6B5708C}" type="presParOf" srcId="{95BE5031-9A3B-4A63-BFD1-2D01BDE4B755}" destId="{E4B49A2F-34CE-4733-9CDE-70EEE8AC2326}" srcOrd="3" destOrd="0" presId="urn:microsoft.com/office/officeart/2018/2/layout/IconLabelDescriptionList"/>
    <dgm:cxn modelId="{89553D8F-7C3F-4CAF-B83F-FE3834580A0E}" type="presParOf" srcId="{95BE5031-9A3B-4A63-BFD1-2D01BDE4B755}" destId="{56340B30-C5B2-488A-A5E4-13025DB76A9E}" srcOrd="4" destOrd="0" presId="urn:microsoft.com/office/officeart/2018/2/layout/IconLabelDescriptionList"/>
    <dgm:cxn modelId="{2A6E541E-5F82-433B-B14B-6B5103226FE1}" type="presParOf" srcId="{0C6AF629-2490-4879-BFE3-B2E0B44CF47D}" destId="{2A609E0E-62F4-4CDD-912A-B70A652832A2}" srcOrd="1" destOrd="0" presId="urn:microsoft.com/office/officeart/2018/2/layout/IconLabelDescriptionList"/>
    <dgm:cxn modelId="{1F586576-1812-48EB-AD2E-6699FFBCE18F}" type="presParOf" srcId="{0C6AF629-2490-4879-BFE3-B2E0B44CF47D}" destId="{2B810AD5-D3D2-45D1-92BD-056C4757AB7F}" srcOrd="2" destOrd="0" presId="urn:microsoft.com/office/officeart/2018/2/layout/IconLabelDescriptionList"/>
    <dgm:cxn modelId="{EF91C72E-EC03-4F3C-BF89-2C08195CA62B}" type="presParOf" srcId="{2B810AD5-D3D2-45D1-92BD-056C4757AB7F}" destId="{4F46C028-287C-41EB-8373-1800C6C90CAD}" srcOrd="0" destOrd="0" presId="urn:microsoft.com/office/officeart/2018/2/layout/IconLabelDescriptionList"/>
    <dgm:cxn modelId="{3661B95C-335F-436D-B552-277BBCC0A01F}" type="presParOf" srcId="{2B810AD5-D3D2-45D1-92BD-056C4757AB7F}" destId="{D510D634-5A71-4129-AC43-54AAA6308688}" srcOrd="1" destOrd="0" presId="urn:microsoft.com/office/officeart/2018/2/layout/IconLabelDescriptionList"/>
    <dgm:cxn modelId="{AD821CB7-867B-43E5-9438-1986E9CBCCB9}" type="presParOf" srcId="{2B810AD5-D3D2-45D1-92BD-056C4757AB7F}" destId="{A085AE69-D972-4033-8CE2-28E9C0B4B819}" srcOrd="2" destOrd="0" presId="urn:microsoft.com/office/officeart/2018/2/layout/IconLabelDescriptionList"/>
    <dgm:cxn modelId="{E31BAA68-DC0E-460C-88A7-05D4481B194D}" type="presParOf" srcId="{2B810AD5-D3D2-45D1-92BD-056C4757AB7F}" destId="{33D71942-11D5-40B1-9103-868A72E392F5}" srcOrd="3" destOrd="0" presId="urn:microsoft.com/office/officeart/2018/2/layout/IconLabelDescriptionList"/>
    <dgm:cxn modelId="{F3ABEF00-1C9F-4177-8DC7-5AB306FA2DBD}" type="presParOf" srcId="{2B810AD5-D3D2-45D1-92BD-056C4757AB7F}" destId="{0681EC13-EBE1-400A-8409-20086D67685B}" srcOrd="4" destOrd="0" presId="urn:microsoft.com/office/officeart/2018/2/layout/IconLabelDescriptionList"/>
    <dgm:cxn modelId="{C745E022-C5C4-421F-B589-EDDB92EC3C65}" type="presParOf" srcId="{0C6AF629-2490-4879-BFE3-B2E0B44CF47D}" destId="{296B54EC-A330-43FA-94FB-C4159B32A882}" srcOrd="3" destOrd="0" presId="urn:microsoft.com/office/officeart/2018/2/layout/IconLabelDescriptionList"/>
    <dgm:cxn modelId="{7FF80971-8F1A-4685-9CAB-3FF6B4ACAFCD}" type="presParOf" srcId="{0C6AF629-2490-4879-BFE3-B2E0B44CF47D}" destId="{17FD4CD9-3B91-43E9-8405-ACC2882A9572}" srcOrd="4" destOrd="0" presId="urn:microsoft.com/office/officeart/2018/2/layout/IconLabelDescriptionList"/>
    <dgm:cxn modelId="{9F57A867-70C3-4911-9E4C-0EBE75EAC5E2}" type="presParOf" srcId="{17FD4CD9-3B91-43E9-8405-ACC2882A9572}" destId="{10938D40-AFD5-42CE-8F5D-C51CAD03671E}" srcOrd="0" destOrd="0" presId="urn:microsoft.com/office/officeart/2018/2/layout/IconLabelDescriptionList"/>
    <dgm:cxn modelId="{A2403F8D-7CDF-4C9F-BAC0-EA02DF956104}" type="presParOf" srcId="{17FD4CD9-3B91-43E9-8405-ACC2882A9572}" destId="{1C59B235-18DC-42B5-8B05-BD30D5EB3EA5}" srcOrd="1" destOrd="0" presId="urn:microsoft.com/office/officeart/2018/2/layout/IconLabelDescriptionList"/>
    <dgm:cxn modelId="{ED087086-FF48-447E-A19E-75AAE8950FDF}" type="presParOf" srcId="{17FD4CD9-3B91-43E9-8405-ACC2882A9572}" destId="{FA49B15E-1D7A-4602-888F-D637C581C203}" srcOrd="2" destOrd="0" presId="urn:microsoft.com/office/officeart/2018/2/layout/IconLabelDescriptionList"/>
    <dgm:cxn modelId="{109C2770-B039-436E-88AE-4D36BE6BE2E1}" type="presParOf" srcId="{17FD4CD9-3B91-43E9-8405-ACC2882A9572}" destId="{51301EDF-B9CA-45B7-997A-B31567BEE12D}" srcOrd="3" destOrd="0" presId="urn:microsoft.com/office/officeart/2018/2/layout/IconLabelDescriptionList"/>
    <dgm:cxn modelId="{003704F3-741E-4A93-BD52-C2FB7CF062D9}" type="presParOf" srcId="{17FD4CD9-3B91-43E9-8405-ACC2882A9572}" destId="{E63A1DD4-58A4-4FB5-B6C2-8A9B2C3EF9B1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5ED8D6-0BF0-4D9B-B8F5-49FC932F8BD2}">
      <dsp:nvSpPr>
        <dsp:cNvPr id="0" name=""/>
        <dsp:cNvSpPr/>
      </dsp:nvSpPr>
      <dsp:spPr>
        <a:xfrm>
          <a:off x="14473" y="107695"/>
          <a:ext cx="853260" cy="81021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CA52A1-9756-4728-ACD1-72A4A27FCC4A}">
      <dsp:nvSpPr>
        <dsp:cNvPr id="0" name=""/>
        <dsp:cNvSpPr/>
      </dsp:nvSpPr>
      <dsp:spPr>
        <a:xfrm>
          <a:off x="14473" y="1088942"/>
          <a:ext cx="2437887" cy="619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/>
            <a:t>Tech Founder: AI-first architecture, build, scale, support: 40%</a:t>
          </a:r>
        </a:p>
      </dsp:txBody>
      <dsp:txXfrm>
        <a:off x="14473" y="1088942"/>
        <a:ext cx="2437887" cy="619119"/>
      </dsp:txXfrm>
    </dsp:sp>
    <dsp:sp modelId="{56340B30-C5B2-488A-A5E4-13025DB76A9E}">
      <dsp:nvSpPr>
        <dsp:cNvPr id="0" name=""/>
        <dsp:cNvSpPr/>
      </dsp:nvSpPr>
      <dsp:spPr>
        <a:xfrm>
          <a:off x="14473" y="1787610"/>
          <a:ext cx="2437887" cy="22974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/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Based on the business idea, we collaborate to build the product.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Automation, hosting, and continuous evolution</a:t>
          </a:r>
        </a:p>
      </dsp:txBody>
      <dsp:txXfrm>
        <a:off x="14473" y="1787610"/>
        <a:ext cx="2437887" cy="2297498"/>
      </dsp:txXfrm>
    </dsp:sp>
    <dsp:sp modelId="{4F46C028-287C-41EB-8373-1800C6C90CAD}">
      <dsp:nvSpPr>
        <dsp:cNvPr id="0" name=""/>
        <dsp:cNvSpPr/>
      </dsp:nvSpPr>
      <dsp:spPr>
        <a:xfrm>
          <a:off x="2878991" y="107695"/>
          <a:ext cx="853260" cy="81021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85AE69-D972-4033-8CE2-28E9C0B4B819}">
      <dsp:nvSpPr>
        <dsp:cNvPr id="0" name=""/>
        <dsp:cNvSpPr/>
      </dsp:nvSpPr>
      <dsp:spPr>
        <a:xfrm>
          <a:off x="2878991" y="1088942"/>
          <a:ext cx="2437887" cy="619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/>
            <a:t>Business Founder: Market validation, sales, partnerships, revenue: 40%	</a:t>
          </a:r>
        </a:p>
      </dsp:txBody>
      <dsp:txXfrm>
        <a:off x="2878991" y="1088942"/>
        <a:ext cx="2437887" cy="619119"/>
      </dsp:txXfrm>
    </dsp:sp>
    <dsp:sp modelId="{0681EC13-EBE1-400A-8409-20086D67685B}">
      <dsp:nvSpPr>
        <dsp:cNvPr id="0" name=""/>
        <dsp:cNvSpPr/>
      </dsp:nvSpPr>
      <dsp:spPr>
        <a:xfrm>
          <a:off x="2878991" y="1787610"/>
          <a:ext cx="2437887" cy="22974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b="0" kern="1200" baseline="0" dirty="0"/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baseline="0" dirty="0"/>
            <a:t>Business growth and sales</a:t>
          </a:r>
          <a:endParaRPr lang="en-US" sz="1600" kern="1200" dirty="0"/>
        </a:p>
        <a:p>
          <a:pPr marL="0" lvl="0" indent="0" algn="l" defTabSz="711200">
            <a:spcBef>
              <a:spcPct val="0"/>
            </a:spcBef>
            <a:spcAft>
              <a:spcPct val="35000"/>
            </a:spcAft>
            <a:buNone/>
            <a:defRPr b="1"/>
          </a:pPr>
          <a:endParaRPr lang="en-US" sz="1400" kern="1200" dirty="0"/>
        </a:p>
      </dsp:txBody>
      <dsp:txXfrm>
        <a:off x="2878991" y="1787610"/>
        <a:ext cx="2437887" cy="2297498"/>
      </dsp:txXfrm>
    </dsp:sp>
    <dsp:sp modelId="{10938D40-AFD5-42CE-8F5D-C51CAD03671E}">
      <dsp:nvSpPr>
        <dsp:cNvPr id="0" name=""/>
        <dsp:cNvSpPr/>
      </dsp:nvSpPr>
      <dsp:spPr>
        <a:xfrm>
          <a:off x="5743509" y="107695"/>
          <a:ext cx="853260" cy="81021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49B15E-1D7A-4602-888F-D637C581C203}">
      <dsp:nvSpPr>
        <dsp:cNvPr id="0" name=""/>
        <dsp:cNvSpPr/>
      </dsp:nvSpPr>
      <dsp:spPr>
        <a:xfrm>
          <a:off x="5743509" y="1088942"/>
          <a:ext cx="2437887" cy="6191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/>
            <a:t>Operations:  Platform, Finance, Legal, Compliance,  Security, and advisory: 20%</a:t>
          </a:r>
        </a:p>
      </dsp:txBody>
      <dsp:txXfrm>
        <a:off x="5743509" y="1088942"/>
        <a:ext cx="2437887" cy="619119"/>
      </dsp:txXfrm>
    </dsp:sp>
    <dsp:sp modelId="{E63A1DD4-58A4-4FB5-B6C2-8A9B2C3EF9B1}">
      <dsp:nvSpPr>
        <dsp:cNvPr id="0" name=""/>
        <dsp:cNvSpPr/>
      </dsp:nvSpPr>
      <dsp:spPr>
        <a:xfrm>
          <a:off x="5743509" y="1787610"/>
          <a:ext cx="2437887" cy="22974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/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Provide governance, security, legal, and enterprise services.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Cover basic hosting expenses and release funds monthly stakeholders.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/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/>
        </a:p>
      </dsp:txBody>
      <dsp:txXfrm>
        <a:off x="5743509" y="1787610"/>
        <a:ext cx="2437887" cy="22974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76211" y="3833770"/>
            <a:ext cx="2468166" cy="2316177"/>
          </a:xfrm>
        </p:spPr>
        <p:txBody>
          <a:bodyPr anchor="ctr">
            <a:normAutofit fontScale="90000"/>
          </a:bodyPr>
          <a:lstStyle/>
          <a:p>
            <a:r>
              <a:rPr lang="en-US" sz="3100" dirty="0"/>
              <a:t>Your product launch is scheduled in two weeks from signup.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A408FF9-C7E7-A8AD-5487-8F4F27C4A9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859" b="6999"/>
          <a:stretch>
            <a:fillRect/>
          </a:stretch>
        </p:blipFill>
        <p:spPr bwMode="auto">
          <a:xfrm>
            <a:off x="20" y="-36414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1955" y="3752850"/>
            <a:ext cx="6679217" cy="2947355"/>
          </a:xfrm>
        </p:spPr>
        <p:txBody>
          <a:bodyPr anchor="ctr">
            <a:normAutofit/>
          </a:bodyPr>
          <a:lstStyle/>
          <a:p>
            <a:r>
              <a:rPr lang="en-US" sz="2000" dirty="0"/>
              <a:t>Great ideas fail when one founder tries to do everything</a:t>
            </a:r>
          </a:p>
          <a:p>
            <a:pPr lvl="1"/>
            <a:r>
              <a:rPr lang="en-US" sz="2000" dirty="0"/>
              <a:t>Tech founders lack distribution;  </a:t>
            </a:r>
          </a:p>
          <a:p>
            <a:pPr lvl="1"/>
            <a:r>
              <a:rPr lang="en-US" sz="2000" dirty="0"/>
              <a:t>Business founders lack “idea to market” speed </a:t>
            </a:r>
          </a:p>
          <a:p>
            <a:pPr lvl="2"/>
            <a:r>
              <a:rPr lang="en-US" sz="2000" dirty="0"/>
              <a:t>We solve this issue and create a Win-Win</a:t>
            </a:r>
          </a:p>
          <a:p>
            <a:pPr lvl="1"/>
            <a:r>
              <a:rPr lang="en-US" sz="2000" dirty="0"/>
              <a:t>Agencies don’t share risk or upside</a:t>
            </a:r>
          </a:p>
          <a:p>
            <a:pPr lvl="1"/>
            <a:r>
              <a:rPr lang="en-US" sz="2000" dirty="0"/>
              <a:t>Solution: An accurate AI-powered co-founder model — This is not outsourcing; we build your idea for us to launch as co-partners </a:t>
            </a:r>
            <a:r>
              <a:rPr lang="en-US" sz="2000" b="1" dirty="0"/>
              <a:t>in 2 weeks</a:t>
            </a:r>
            <a:r>
              <a:rPr lang="en-US" sz="2000" dirty="0"/>
              <a:t>.</a:t>
            </a:r>
            <a:endParaRPr lang="en-US" sz="16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B5CEC4C-9780-C066-A43B-8CCDA00B5528}"/>
              </a:ext>
            </a:extLst>
          </p:cNvPr>
          <p:cNvSpPr txBox="1">
            <a:spLocks/>
          </p:cNvSpPr>
          <p:nvPr/>
        </p:nvSpPr>
        <p:spPr>
          <a:xfrm>
            <a:off x="-344597" y="8092"/>
            <a:ext cx="4916597" cy="12421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100" dirty="0">
                <a:solidFill>
                  <a:schemeClr val="bg2"/>
                </a:solidFill>
              </a:rPr>
              <a:t>AI-Powered Product Studio</a:t>
            </a:r>
            <a:br>
              <a:rPr lang="en-US" sz="3100" dirty="0"/>
            </a:br>
            <a:br>
              <a:rPr lang="en-US" sz="3100" dirty="0"/>
            </a:br>
            <a:endParaRPr lang="en-US" sz="3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 fontScale="90000"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How the 40 / 40 / 20 Partnership Works</a:t>
            </a:r>
            <a:br>
              <a:rPr lang="en-US" sz="3500" dirty="0">
                <a:solidFill>
                  <a:srgbClr val="FFFFFF"/>
                </a:solidFill>
              </a:rPr>
            </a:br>
            <a:r>
              <a:rPr lang="en-US" sz="3500" dirty="0">
                <a:solidFill>
                  <a:srgbClr val="FFFFFF"/>
                </a:solidFill>
              </a:rPr>
              <a:t>In two weeks, we launch.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397B1B3-D0CC-A33D-B15B-ED2F37D92C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038282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472C396-FAEA-CBC1-A315-DEB38DC416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83" r="6133"/>
          <a:stretch>
            <a:fillRect/>
          </a:stretch>
        </p:blipFill>
        <p:spPr bwMode="auto">
          <a:xfrm>
            <a:off x="1891767" y="10"/>
            <a:ext cx="725223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42696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" y="10"/>
            <a:ext cx="3266896" cy="1899912"/>
          </a:xfrm>
        </p:spPr>
        <p:txBody>
          <a:bodyPr>
            <a:normAutofit/>
          </a:bodyPr>
          <a:lstStyle/>
          <a:p>
            <a:r>
              <a:rPr lang="en-US" sz="3500" dirty="0"/>
              <a:t>Why This is a Win-Win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36" y="2144389"/>
            <a:ext cx="3641416" cy="4032574"/>
          </a:xfrm>
        </p:spPr>
        <p:txBody>
          <a:bodyPr>
            <a:normAutofit fontScale="92500" lnSpcReduction="10000"/>
          </a:bodyPr>
          <a:lstStyle/>
          <a:p>
            <a:r>
              <a:rPr lang="en-US" sz="1900" b="1" dirty="0"/>
              <a:t>AI reduces build cycles from months to weeks</a:t>
            </a:r>
          </a:p>
          <a:p>
            <a:pPr lvl="1"/>
            <a:r>
              <a:rPr lang="en-US" sz="1800" dirty="0"/>
              <a:t>Marginal cost to scale multiple products</a:t>
            </a:r>
          </a:p>
          <a:p>
            <a:pPr lvl="1"/>
            <a:r>
              <a:rPr lang="en-US" sz="1800" dirty="0"/>
              <a:t>Perfect incentive alignment — we win together</a:t>
            </a:r>
          </a:p>
          <a:p>
            <a:pPr lvl="1"/>
            <a:r>
              <a:rPr lang="en-US" sz="1800" dirty="0"/>
              <a:t>You bring the market &amp; sales; We build the product. </a:t>
            </a:r>
          </a:p>
          <a:p>
            <a:pPr lvl="2"/>
            <a:r>
              <a:rPr lang="en-US" sz="1800" dirty="0"/>
              <a:t>We scale as equals.</a:t>
            </a:r>
          </a:p>
          <a:p>
            <a:pPr lvl="2"/>
            <a:endParaRPr lang="en-US" sz="1800" dirty="0"/>
          </a:p>
          <a:p>
            <a:r>
              <a:rPr lang="en-US" sz="1900" b="1" dirty="0"/>
              <a:t>Samples in flight:  </a:t>
            </a:r>
          </a:p>
          <a:p>
            <a:pPr lvl="1"/>
            <a:r>
              <a:rPr lang="en-US" sz="1800" dirty="0"/>
              <a:t>Personal Transformation</a:t>
            </a:r>
          </a:p>
          <a:p>
            <a:pPr lvl="1"/>
            <a:r>
              <a:rPr lang="en-US" sz="1800" dirty="0"/>
              <a:t>Vedic Astrology</a:t>
            </a:r>
          </a:p>
          <a:p>
            <a:pPr lvl="1"/>
            <a:r>
              <a:rPr lang="en-US" sz="1800" dirty="0"/>
              <a:t>Career Builder</a:t>
            </a:r>
          </a:p>
          <a:p>
            <a:pPr lvl="1"/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2799</TotalTime>
  <Words>242</Words>
  <Application>Microsoft Office PowerPoint</Application>
  <PresentationFormat>On-screen Show (4:3)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Your product launch is scheduled in two weeks from signup.</vt:lpstr>
      <vt:lpstr>How the 40 / 40 / 20 Partnership Works In two weeks, we launch.</vt:lpstr>
      <vt:lpstr>Why This is a Win-Win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Dan Pattangi</dc:creator>
  <cp:keywords/>
  <dc:description>generated using python-pptx</dc:description>
  <cp:lastModifiedBy>Dan Pattangi</cp:lastModifiedBy>
  <cp:revision>7</cp:revision>
  <dcterms:created xsi:type="dcterms:W3CDTF">2013-01-27T09:14:16Z</dcterms:created>
  <dcterms:modified xsi:type="dcterms:W3CDTF">2025-12-29T15:58:57Z</dcterms:modified>
  <cp:category/>
</cp:coreProperties>
</file>